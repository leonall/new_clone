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/>
            </a:pPr>
            <a:r>
              <a:t>中国NEV渗透率趋势（2020-2024）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NEV渗透率(%)</c:v>
                </c:pt>
              </c:strCache>
            </c:strRef>
          </c:tx>
          <c:spPr>
            <a:solidFill>
              <a:srgbClr val="007ACC"/>
            </a:solidFill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5.4</c:v>
                </c:pt>
                <c:pt idx="1">
                  <c:v>13.4</c:v>
                </c:pt>
                <c:pt idx="2">
                  <c:v>25.6</c:v>
                </c:pt>
                <c:pt idx="3">
                  <c:v>35.7</c:v>
                </c:pt>
                <c:pt idx="4">
                  <c:v>51.2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/>
            </a:pPr>
            <a:r>
              <a:t>NEV年销量趋势（万辆）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销量(万辆)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136</c:v>
                </c:pt>
                <c:pt idx="1">
                  <c:v>352</c:v>
                </c:pt>
                <c:pt idx="2">
                  <c:v>649</c:v>
                </c:pt>
                <c:pt idx="3">
                  <c:v>773</c:v>
                </c:pt>
                <c:pt idx="4">
                  <c:v>1088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市占率</c:v>
                </c:pt>
              </c:strCache>
            </c:strRef>
          </c:tx>
          <c:dPt>
            <c:idx val="0"/>
            <c:spPr>
              <a:solidFill>
                <a:srgbClr val="007ACC"/>
              </a:solidFill>
            </c:spPr>
          </c:dPt>
          <c:dPt>
            <c:idx val="1"/>
            <c:spPr>
              <a:solidFill>
                <a:srgbClr val="EF6C00"/>
              </a:solidFill>
            </c:spPr>
          </c:dPt>
          <c:dPt>
            <c:idx val="2"/>
            <c:spPr>
              <a:solidFill>
                <a:srgbClr val="C62828"/>
              </a:solidFill>
            </c:spPr>
          </c:dPt>
          <c:dPt>
            <c:idx val="3"/>
            <c:spPr>
              <a:solidFill>
                <a:srgbClr val="2E7D32"/>
              </a:solidFill>
            </c:spPr>
          </c:dPt>
          <c:dPt>
            <c:idx val="4"/>
            <c:spPr>
              <a:solidFill>
                <a:srgbClr val="6A1B9A"/>
              </a:solidFill>
            </c:spPr>
          </c:dPt>
          <c:dPt>
            <c:idx val="5"/>
            <c:spPr>
              <a:solidFill>
                <a:srgbClr val="00838A"/>
              </a:solidFill>
            </c:spPr>
          </c:dPt>
          <c:dPt>
            <c:idx val="6"/>
            <c:spPr>
              <a:solidFill>
                <a:srgbClr val="F59E0E"/>
              </a:solidFill>
            </c:spPr>
          </c:dPt>
          <c:dPt>
            <c:idx val="7"/>
            <c:spPr>
              <a:solidFill>
                <a:srgbClr val="37474F"/>
              </a:solidFill>
            </c:spPr>
          </c:dPt>
          <c:dPt>
            <c:idx val="8"/>
            <c:spPr>
              <a:solidFill>
                <a:srgbClr val="558B2F"/>
              </a:solidFill>
            </c:spPr>
          </c:dPt>
          <c:dPt>
            <c:idx val="9"/>
            <c:spPr>
              <a:solidFill>
                <a:srgbClr val="AD1457"/>
              </a:solidFill>
            </c:spPr>
          </c:dPt>
          <c:dPt>
            <c:idx val="10"/>
            <c:spPr>
              <a:solidFill>
                <a:srgbClr val="1B5E20"/>
              </a:solidFill>
            </c:spPr>
          </c:dPt>
          <c:cat>
            <c:strRef>
              <c:f>Sheet1!$A$2:$A$13</c:f>
              <c:strCache>
                <c:ptCount val="12"/>
                <c:pt idx="0">
                  <c:v>BYD</c:v>
                </c:pt>
                <c:pt idx="1">
                  <c:v>Geely</c:v>
                </c:pt>
                <c:pt idx="2">
                  <c:v>Tesla</c:v>
                </c:pt>
                <c:pt idx="3">
                  <c:v>SGMW</c:v>
                </c:pt>
                <c:pt idx="4">
                  <c:v>Changan</c:v>
                </c:pt>
                <c:pt idx="5">
                  <c:v>Li Auto</c:v>
                </c:pt>
                <c:pt idx="6">
                  <c:v>AITO</c:v>
                </c:pt>
                <c:pt idx="7">
                  <c:v>Leapmotor</c:v>
                </c:pt>
                <c:pt idx="8">
                  <c:v>GAC Aion</c:v>
                </c:pt>
                <c:pt idx="9">
                  <c:v>Xpeng</c:v>
                </c:pt>
                <c:pt idx="10">
                  <c:v>NIO</c:v>
                </c:pt>
                <c:pt idx="11">
                  <c:v>Others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34.1</c:v>
                </c:pt>
                <c:pt idx="1">
                  <c:v>7.9</c:v>
                </c:pt>
                <c:pt idx="2">
                  <c:v>6.0</c:v>
                </c:pt>
                <c:pt idx="3">
                  <c:v>5.9</c:v>
                </c:pt>
                <c:pt idx="4">
                  <c:v>5.2</c:v>
                </c:pt>
                <c:pt idx="5">
                  <c:v>4.6</c:v>
                </c:pt>
                <c:pt idx="6">
                  <c:v>3.8</c:v>
                </c:pt>
                <c:pt idx="7">
                  <c:v>3.6</c:v>
                </c:pt>
                <c:pt idx="8">
                  <c:v>3.4</c:v>
                </c:pt>
                <c:pt idx="9">
                  <c:v>3.1</c:v>
                </c:pt>
                <c:pt idx="10">
                  <c:v>2.8</c:v>
                </c:pt>
                <c:pt idx="11">
                  <c:v>19.6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1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规模经济</c:v>
                </c:pt>
              </c:strCache>
            </c:strRef>
          </c:tx>
          <c:spPr>
            <a:solidFill>
              <a:srgbClr val="1A237E"/>
            </a:solidFill>
          </c:spPr>
          <c:cat>
            <c:strRef>
              <c:f>Sheet1!$A$2:$A$7</c:f>
              <c:strCache>
                <c:ptCount val="6"/>
                <c:pt idx="0">
                  <c:v>BYD</c:v>
                </c:pt>
                <c:pt idx="1">
                  <c:v>Tesla</c:v>
                </c:pt>
                <c:pt idx="2">
                  <c:v>Li Auto</c:v>
                </c:pt>
                <c:pt idx="3">
                  <c:v>AITO</c:v>
                </c:pt>
                <c:pt idx="4">
                  <c:v>NIO</c:v>
                </c:pt>
                <c:pt idx="5">
                  <c:v>Xpeng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技术壁垒</c:v>
                </c:pt>
              </c:strCache>
            </c:strRef>
          </c:tx>
          <c:spPr>
            <a:solidFill>
              <a:srgbClr val="007ACC"/>
            </a:solidFill>
          </c:spPr>
          <c:cat>
            <c:strRef>
              <c:f>Sheet1!$A$2:$A$7</c:f>
              <c:strCache>
                <c:ptCount val="6"/>
                <c:pt idx="0">
                  <c:v>BYD</c:v>
                </c:pt>
                <c:pt idx="1">
                  <c:v>Tesla</c:v>
                </c:pt>
                <c:pt idx="2">
                  <c:v>Li Auto</c:v>
                </c:pt>
                <c:pt idx="3">
                  <c:v>AITO</c:v>
                </c:pt>
                <c:pt idx="4">
                  <c:v>NIO</c:v>
                </c:pt>
                <c:pt idx="5">
                  <c:v>Xpeng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品牌溢价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Sheet1!$A$2:$A$7</c:f>
              <c:strCache>
                <c:ptCount val="6"/>
                <c:pt idx="0">
                  <c:v>BYD</c:v>
                </c:pt>
                <c:pt idx="1">
                  <c:v>Tesla</c:v>
                </c:pt>
                <c:pt idx="2">
                  <c:v>Li Auto</c:v>
                </c:pt>
                <c:pt idx="3">
                  <c:v>AITO</c:v>
                </c:pt>
                <c:pt idx="4">
                  <c:v>NIO</c:v>
                </c:pt>
                <c:pt idx="5">
                  <c:v>Xpeng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渠道网络</c:v>
                </c:pt>
              </c:strCache>
            </c:strRef>
          </c:tx>
          <c:spPr>
            <a:solidFill>
              <a:srgbClr val="EF6C00"/>
            </a:solidFill>
          </c:spPr>
          <c:cat>
            <c:strRef>
              <c:f>Sheet1!$A$2:$A$7</c:f>
              <c:strCache>
                <c:ptCount val="6"/>
                <c:pt idx="0">
                  <c:v>BYD</c:v>
                </c:pt>
                <c:pt idx="1">
                  <c:v>Tesla</c:v>
                </c:pt>
                <c:pt idx="2">
                  <c:v>Li Auto</c:v>
                </c:pt>
                <c:pt idx="3">
                  <c:v>AITO</c:v>
                </c:pt>
                <c:pt idx="4">
                  <c:v>NIO</c:v>
                </c:pt>
                <c:pt idx="5">
                  <c:v>Xpeng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生态系统</c:v>
                </c:pt>
              </c:strCache>
            </c:strRef>
          </c:tx>
          <c:spPr>
            <a:solidFill>
              <a:srgbClr val="C62828"/>
            </a:solidFill>
          </c:spPr>
          <c:cat>
            <c:strRef>
              <c:f>Sheet1!$A$2:$A$7</c:f>
              <c:strCache>
                <c:ptCount val="6"/>
                <c:pt idx="0">
                  <c:v>BYD</c:v>
                </c:pt>
                <c:pt idx="1">
                  <c:v>Tesla</c:v>
                </c:pt>
                <c:pt idx="2">
                  <c:v>Li Auto</c:v>
                </c:pt>
                <c:pt idx="3">
                  <c:v>AITO</c:v>
                </c:pt>
                <c:pt idx="4">
                  <c:v>NIO</c:v>
                </c:pt>
                <c:pt idx="5">
                  <c:v>Xpeng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1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2024年实际市占率(%)</c:v>
                </c:pt>
              </c:strCache>
            </c:strRef>
          </c:tx>
          <c:spPr>
            <a:solidFill>
              <a:srgbClr val="1A237E"/>
            </a:solidFill>
          </c:spPr>
          <c:cat>
            <c:strRef>
              <c:f>Sheet1!$A$2:$A$9</c:f>
              <c:strCache>
                <c:ptCount val="8"/>
                <c:pt idx="0">
                  <c:v>BYD</c:v>
                </c:pt>
                <c:pt idx="1">
                  <c:v>Geely</c:v>
                </c:pt>
                <c:pt idx="2">
                  <c:v>Tesla</c:v>
                </c:pt>
                <c:pt idx="3">
                  <c:v>SGMW</c:v>
                </c:pt>
                <c:pt idx="4">
                  <c:v>Changan</c:v>
                </c:pt>
                <c:pt idx="5">
                  <c:v>Li Auto</c:v>
                </c:pt>
                <c:pt idx="6">
                  <c:v>AITO</c:v>
                </c:pt>
                <c:pt idx="7">
                  <c:v>Others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34.1</c:v>
                </c:pt>
                <c:pt idx="1">
                  <c:v>7.9</c:v>
                </c:pt>
                <c:pt idx="2">
                  <c:v>6.0</c:v>
                </c:pt>
                <c:pt idx="3">
                  <c:v>5.9</c:v>
                </c:pt>
                <c:pt idx="4">
                  <c:v>5.2</c:v>
                </c:pt>
                <c:pt idx="5">
                  <c:v>4.6</c:v>
                </c:pt>
                <c:pt idx="6">
                  <c:v>3.8</c:v>
                </c:pt>
                <c:pt idx="7">
                  <c:v>32.5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2027年预测市占率(%)</c:v>
                </c:pt>
              </c:strCache>
            </c:strRef>
          </c:tx>
          <c:spPr>
            <a:solidFill>
              <a:srgbClr val="007ACC"/>
            </a:solidFill>
          </c:spPr>
          <c:cat>
            <c:strRef>
              <c:f>Sheet1!$A$2:$A$9</c:f>
              <c:strCache>
                <c:ptCount val="8"/>
                <c:pt idx="0">
                  <c:v>BYD</c:v>
                </c:pt>
                <c:pt idx="1">
                  <c:v>Geely</c:v>
                </c:pt>
                <c:pt idx="2">
                  <c:v>Tesla</c:v>
                </c:pt>
                <c:pt idx="3">
                  <c:v>SGMW</c:v>
                </c:pt>
                <c:pt idx="4">
                  <c:v>Changan</c:v>
                </c:pt>
                <c:pt idx="5">
                  <c:v>Li Auto</c:v>
                </c:pt>
                <c:pt idx="6">
                  <c:v>AITO</c:v>
                </c:pt>
                <c:pt idx="7">
                  <c:v>Others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30.0</c:v>
                </c:pt>
                <c:pt idx="1">
                  <c:v>9.0</c:v>
                </c:pt>
                <c:pt idx="2">
                  <c:v>5.5</c:v>
                </c:pt>
                <c:pt idx="3">
                  <c:v>4.5</c:v>
                </c:pt>
                <c:pt idx="4">
                  <c:v>6.0</c:v>
                </c:pt>
                <c:pt idx="5">
                  <c:v>7.0</c:v>
                </c:pt>
                <c:pt idx="6">
                  <c:v>6.0</c:v>
                </c:pt>
                <c:pt idx="7">
                  <c:v>32.0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1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中国新能源汽车行业竞争格局分析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CCEE"/>
                </a:solidFill>
              </a:defRPr>
            </a:pPr>
            <a:r>
              <a:t>主要玩家市占率  ·  差异化策略  ·  护城河评估  ·  未来展望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</a:defRPr>
            </a:pPr>
            <a:r>
              <a:t>数据截至 2024年12月  |  数据来源：CPCA / 各公司年报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核心发现摘要</a:t>
            </a:r>
          </a:p>
          <a:p>
            <a:pPr>
              <a:defRPr sz="1300">
                <a:solidFill>
                  <a:srgbClr val="BBCCDD"/>
                </a:solidFill>
              </a:defRPr>
            </a:pPr>
            <a:r>
              <a:t>6大关键洞察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76072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DD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73152" cy="14173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07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</a:defRPr>
            </a:pPr>
            <a:r>
              <a:t>🏆 市场格局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7335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"一超多强"稳固，BYD市占率34.1%，CR3达48%，市场集中度持续提升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576072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DD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73152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07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37E"/>
                </a:solidFill>
              </a:defRPr>
            </a:pPr>
            <a:r>
              <a:t>🔢 竞争分层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7335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Tier 1 BYD独大 → Tier 2 Geely/Tesla/五菱 → Tier 3 新势力分化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34640"/>
            <a:ext cx="576072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DD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73152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077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⚙️ 差异化路线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7355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技术路线分化：纯电 vs 增程；2025年智能化(NOA/端到端)成核心战场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834640"/>
            <a:ext cx="576072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DD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834640"/>
            <a:ext cx="73152" cy="14173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9077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6C00"/>
                </a:solidFill>
              </a:defRPr>
            </a:pPr>
            <a:r>
              <a:t>🏰 护城河评估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7355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BYD垂直整合护城河最深；Tesla技术+品牌双轮驱动；理想盈利率领跑新势力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34840"/>
            <a:ext cx="576072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DD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434840"/>
            <a:ext cx="73152" cy="1417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5079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</a:defRPr>
            </a:pPr>
            <a:r>
              <a:t>📈 未来展望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7375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2025-2027年集中度再提升：BYD 28-32%；出海成增量，东南亚/欧洲为主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434840"/>
            <a:ext cx="576072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DD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434840"/>
            <a:ext cx="73152" cy="1417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5079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A1B9A"/>
                </a:solidFill>
              </a:defRPr>
            </a:pPr>
            <a:r>
              <a:t>💡 投资启示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87375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短期关注盈利可持续性，中期关注智能化进展，长期看好具备出海能力的龙头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来源：CPCA 2024、各公司年报及公开投资者文件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市场规模：NEV渗透率突破50%，正式超越燃油车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65176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1,088万辆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</a:defRPr>
            </a:pPr>
            <a:r>
              <a:t>2024年NEV零售销量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143000"/>
            <a:ext cx="265176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188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&gt;50%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91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</a:defRPr>
            </a:pPr>
            <a:r>
              <a:t>NEV渗透率（首超燃油车）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43000"/>
            <a:ext cx="265176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188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+35%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91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</a:defRPr>
            </a:pPr>
            <a:r>
              <a:t>2024年销量同比增速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143000"/>
            <a:ext cx="265176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188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5-8%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691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</a:defRPr>
            </a:pPr>
            <a:r>
              <a:t>2025-2027E CAGR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365760" y="2377440"/>
          <a:ext cx="64008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7040880" y="2377440"/>
          <a:ext cx="484632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来源：CPCA（乘联会）2024年数据；2025-2027年为分析师预测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2024年市占率：BYD以34.1%遥遥领先，CR3达48%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97280"/>
          <a:ext cx="594360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1097280"/>
          <a:ext cx="54864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645920"/>
                <a:gridCol w="914400"/>
              </a:tblGrid>
              <a:tr h="4495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品牌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市占率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销量(万辆)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同比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BYD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+41%</a:t>
                      </a:r>
                    </a:p>
                  </a:txBody>
                  <a:tcPr/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Geely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+45%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-3%</a:t>
                      </a:r>
                    </a:p>
                  </a:txBody>
                  <a:tcPr/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SGMW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5.9%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Changan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+38%</a:t>
                      </a:r>
                    </a:p>
                  </a:txBody>
                  <a:tcPr/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 Auto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+33%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+182%</a:t>
                      </a:r>
                    </a:p>
                  </a:txBody>
                  <a:tcPr/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Leapmotor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+104%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GAC Aion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-21%</a:t>
                      </a:r>
                    </a:p>
                  </a:txBody>
                  <a:tcPr/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Xpeng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+34%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+39%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来源：CPCA 2024年全年零售销量数据（品牌口径）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竞争格局分层："一超多强"，新势力加速分化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834640" cy="6400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Tier 1  绝对龙头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237E"/>
                </a:solidFill>
              </a:defRPr>
            </a:pPr>
            <a:r>
              <a:t>护城河: ●●●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2834640" cy="44348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938528"/>
            <a:ext cx="26151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BYD</a:t>
            </a:r>
            <a:br/>
            <a:br/>
            <a:r>
              <a:t>• 市占率 34.1%，销量 427万辆</a:t>
            </a:r>
            <a:br/>
            <a:r>
              <a:t>• 全价格带覆盖（8万-80万）</a:t>
            </a:r>
            <a:br/>
            <a:r>
              <a:t>• 垂直整合：电池+芯片+整车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97280"/>
            <a:ext cx="283464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1155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Tier 2  传统大厂 &amp; 外资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463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ACC"/>
                </a:solidFill>
              </a:defRPr>
            </a:pPr>
            <a:r>
              <a:t>护城河: ●●○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874519"/>
            <a:ext cx="2834640" cy="44348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938528"/>
            <a:ext cx="26151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Geely · Tesla · SGMW · Changan</a:t>
            </a:r>
            <a:br/>
            <a:br/>
            <a:r>
              <a:t>• 合计市占率 ~25%</a:t>
            </a:r>
            <a:br/>
            <a:r>
              <a:t>• Geely多品牌矩阵</a:t>
            </a:r>
            <a:br/>
            <a:r>
              <a:t>• Tesla品牌溢价+FSD护城河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283464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1155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Tier 3 (盈利)  新势力头部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463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7D32"/>
                </a:solidFill>
              </a:defRPr>
            </a:pPr>
            <a:r>
              <a:t>护城河: ●●○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874519"/>
            <a:ext cx="2834640" cy="44348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38528"/>
            <a:ext cx="26151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Li Auto · AITO</a:t>
            </a:r>
            <a:br/>
            <a:br/>
            <a:r>
              <a:t>• 理想：增程+家庭定位，毛利20%+</a:t>
            </a:r>
            <a:br/>
            <a:r>
              <a:t>• 问界：华为智选，智能化领先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097280"/>
            <a:ext cx="2834640" cy="6400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1155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Tier 4  新势力挑战者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463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6C00"/>
                </a:solidFill>
              </a:defRPr>
            </a:pPr>
            <a:r>
              <a:t>护城河: ●○○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874519"/>
            <a:ext cx="2834640" cy="44348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1938528"/>
            <a:ext cx="26151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Leapmotor · Xpeng · NIO</a:t>
            </a:r>
            <a:br/>
            <a:br/>
            <a:r>
              <a:t>• 蔚来：换电生态+高端品牌</a:t>
            </a:r>
            <a:br/>
            <a:r>
              <a:t>• 小鹏：自研XNGP智驾</a:t>
            </a:r>
            <a:br/>
            <a:r>
              <a:t>• 零跑：性价比+出海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分层依据：2024年市占率、盈利状况及护城河深度综合判断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差异化策略：技术路线分化，智能化决胜下半场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29997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058"/>
                <a:gridCol w="2017058"/>
                <a:gridCol w="2689411"/>
                <a:gridCol w="2241176"/>
                <a:gridCol w="2465294"/>
              </a:tblGrid>
              <a:tr h="599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品牌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动力路线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智能驾驶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目标市场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价格带（万元）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BYD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纯电+插混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DiPilot（华为合作）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大众+新能源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8–80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Tesla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纯电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FSD端到端视觉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中高端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25–55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 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增程+纯电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AD Max（地平线）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家庭SUV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20–50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AITO/华为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增程+纯电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ADS 2.0 领先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中高端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25–60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Xpeng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纯电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XNGP自研端到端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中端+科技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15–35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NIO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纯电+换电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NIO Pilot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高端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30–90+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Leapmotor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纯电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基础辅助驾驶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性价比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8–20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Geely/极氪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纯电+混动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Mobileye/自研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大众+高端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10–60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来源：各公司官网、投资者演示材料（2024-2025年）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商业模式：四大流派并存，垂直整合与生态赋能领跑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83464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115568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垂直整合派 · BYD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2834640" cy="46634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719072"/>
            <a:ext cx="261518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自研电池(刀片)、电机、电控、芯片</a:t>
            </a:r>
            <a:br/>
            <a:r>
              <a:t>• 成本优势较竞品低 15-20%</a:t>
            </a:r>
            <a:br/>
            <a:r>
              <a:t>• 利润护城河最深，规模效应明显</a:t>
            </a:r>
            <a:br/>
            <a:r>
              <a:t>• 风险：智能化相对滞后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097280"/>
            <a:ext cx="283464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115568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生态赋能派 · AITO（华为智选）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645920"/>
            <a:ext cx="2834640" cy="46634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719072"/>
            <a:ext cx="261518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华为提供鸿蒙OS+ADS智驾+渠道</a:t>
            </a:r>
            <a:br/>
            <a:r>
              <a:t>• 赛力斯专注硬件制造</a:t>
            </a:r>
            <a:br/>
            <a:r>
              <a:t>• 品牌高度依赖华为生态</a:t>
            </a:r>
            <a:br/>
            <a:r>
              <a:t>• 优势：快速获取华为4000+门店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28346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115568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场景专注派 · Li Auto（理想）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2834640" cy="46634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719072"/>
            <a:ext cx="261518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增程式聚焦家庭大型SUV</a:t>
            </a:r>
            <a:br/>
            <a:r>
              <a:t>• 毛利率 20%+，新势力唯一盈利</a:t>
            </a:r>
            <a:br/>
            <a:r>
              <a:t>• 管理层执行力强，交付高效</a:t>
            </a:r>
            <a:br/>
            <a:r>
              <a:t>• 风险：纯电转型压力大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097280"/>
            <a:ext cx="2834640" cy="5029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115568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服务订阅派 · NIO（蔚来）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645920"/>
            <a:ext cx="2834640" cy="46634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1719072"/>
            <a:ext cx="261518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换电网络+BaaS(电池即服务)模式</a:t>
            </a:r>
            <a:br/>
            <a:r>
              <a:t>• NIO House用户社区运营</a:t>
            </a:r>
            <a:br/>
            <a:r>
              <a:t>• 高净值用户粘性强</a:t>
            </a:r>
            <a:br/>
            <a:r>
              <a:t>• 风险：换电基建成本高，亏损持续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商业模式分类基于公司战略定位及收入结构分析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护城河评估框架：五维度系统化评级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7E"/>
                </a:solidFill>
              </a:defRPr>
            </a:pPr>
            <a:r>
              <a:t>评估维度与考察指标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4206240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91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📦 规模经济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0848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产能利用率、采购议价权、单车制造成本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4206240" cy="8686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651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🔬 技术壁垒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0449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电池技术、自动驾驶算法、芯片自研能力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66160"/>
            <a:ext cx="420624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611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🌟 品牌溢价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0050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用户NPS、溢价空间、高端化可能性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26280"/>
            <a:ext cx="4206240" cy="8686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572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🏪 渠道网络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9651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门店覆盖度、服务体验、线上销售能力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486400"/>
            <a:ext cx="4206240" cy="8686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5532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🔗 生态系统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59253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软件/OTA收入、第三方应用、换电/能源网络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188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7E"/>
                </a:solidFill>
              </a:defRPr>
            </a:pPr>
            <a:r>
              <a:t>评分标准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0" y="1645920"/>
          <a:ext cx="6858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320040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评级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典型特征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●●●  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难以复制的结构性优势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行业领先 / 多年积累 / 高切换成本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  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有一定壁垒但可被追赶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中等差异化 / 需持续投入维持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●○○  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短期竞争优势，护城河浅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易被复制 / 需监控竞争动态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029200" y="3840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护城河综合评级将综合五个维度加权打分，权重：</a:t>
            </a:r>
            <a:br/>
            <a:r>
              <a:t>规模经济 25%  |  技术壁垒 30%  |  品牌溢价 20%</a:t>
            </a:r>
            <a:br/>
            <a:r>
              <a:t>渠道网络 15%  |  生态系统 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框架参考：Michael Porter 竞争优势理论 + Morningstar 护城河评级体系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护城河评级：BYD垂直整合最强，新势力智能化奋起直追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97280"/>
          <a:ext cx="777240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0" y="1097280"/>
          <a:ext cx="3749037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127"/>
                <a:gridCol w="441063"/>
                <a:gridCol w="441063"/>
                <a:gridCol w="441063"/>
                <a:gridCol w="441063"/>
                <a:gridCol w="441063"/>
                <a:gridCol w="661595"/>
              </a:tblGrid>
              <a:tr h="7707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品牌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规模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品牌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渠道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生态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综合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BYD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Tesla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 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●○○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/>
                </a:tc>
              </a:tr>
              <a:tr h="7707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Xpeng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●○○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●●○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护城河评级为定性分析，●●● =强/3分  ●●○ =中/2分  ●○○ =弱/1分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护城河详解：BYD vs Tesla — 两种路径，各有所长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🔵 BYD — 垂直整合之王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</a:tblGrid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2024年销量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427万辆（+41% YoY）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市占率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34.1%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毛利率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~18%（汽车业务）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净利润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~300亿元（预估）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核心电池技术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刀片电池（磷酸铁锂）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自研芯片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e平台3.0 + 海鸥芯片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价格覆盖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8万 – 80万元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8920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✅ 核心优势：刀片电池安全+低成本；全产业链自控；渠道下沉县级市</a:t>
            </a:r>
            <a:br/>
            <a:r>
              <a:t>⚠️ 主要风险：品牌向上遭遇天花板；智能驾驶仍落后华为/特斯拉；海外扩张受壁垒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2828"/>
                </a:solidFill>
              </a:defRPr>
            </a:pPr>
            <a:r>
              <a:t>🔴 Tesla — 技术品牌双护城河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6002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</a:tblGrid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2024年中国销量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66万辆（-3% YoY）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全球市占率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~18%（纯电）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毛利率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~17%（汽车业务）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FSD收入潜力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每辆车 $8,000-15,000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核心技术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FSD端到端 + Dojo超算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超级充电桩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全球7万+站，中国1,500+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价格覆盖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25万 – 55万元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48920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✅ 核心优势：FSD软件收入潜力巨大；品牌溢价全球最强；超充网络生态锁定</a:t>
            </a:r>
            <a:br/>
            <a:r>
              <a:t>⚠️ 主要风险：中国市场竞争加剧；国内产品迭代速度落后；价格战损毛利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97280"/>
            <a:ext cx="36576" cy="55778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来源：Tesla 2024 Q4 Earnings、BYD 2024年报及公开数据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护城河详解：新势力分化加剧，理想盈利领跑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8346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115568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理想汽车 Li Auto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64208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E7D32"/>
                </a:solidFill>
              </a:defRPr>
            </a:pPr>
            <a:r>
              <a:t>护城河: ●●○  |  优势: 盈利能力 &amp; 执行力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2834640" cy="425196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121408"/>
            <a:ext cx="26151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2024年交付50万辆（+33%），首个盈利新势力</a:t>
            </a:r>
            <a:br/>
            <a:r>
              <a:t>• 增程式家庭SUV定位清晰，避免纯电焦虑</a:t>
            </a:r>
            <a:br/>
            <a:r>
              <a:t>• 毛利率 20%+，自由现金流转正</a:t>
            </a:r>
            <a:br/>
            <a:r>
              <a:t>• 挑战：L6以下市场、纯电MEGA受挫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97280"/>
            <a:ext cx="283464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1115568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问界 AITO（华为）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1664208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7ACC"/>
                </a:solidFill>
              </a:defRPr>
            </a:pPr>
            <a:r>
              <a:t>护城河: ●●○  |  优势: 智能化 &amp; 渠道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057400"/>
            <a:ext cx="2834640" cy="425196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121408"/>
            <a:ext cx="26151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2024年交付41万辆（+182%），增速第一</a:t>
            </a:r>
            <a:br/>
            <a:r>
              <a:t>• 鸿蒙OS + ADS 2.0城区NOA领先行业</a:t>
            </a:r>
            <a:br/>
            <a:r>
              <a:t>• 华为渠道赋能4,000+门店覆盖</a:t>
            </a:r>
            <a:br/>
            <a:r>
              <a:t>• 挑战：高度依赖华为，品牌独立性弱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2834640" cy="5029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115568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蔚来 NIO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664208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F6C00"/>
                </a:solidFill>
              </a:defRPr>
            </a:pPr>
            <a:r>
              <a:t>护城河: ●●○  |  优势: 服务生态 &amp; 品牌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057400"/>
            <a:ext cx="2834640" cy="425196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121408"/>
            <a:ext cx="26151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2024年交付31万辆（+39%）</a:t>
            </a:r>
            <a:br/>
            <a:r>
              <a:t>• 换电网络2,400站+，BaaS电池订阅模式</a:t>
            </a:r>
            <a:br/>
            <a:r>
              <a:t>• 高端圈层用户社区黏性强（NPS领先）</a:t>
            </a:r>
            <a:br/>
            <a:r>
              <a:t>• 挑战：持续亏损，换电基建成本高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097280"/>
            <a:ext cx="283464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1115568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小鹏汽车 Xpeng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1664208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62828"/>
                </a:solidFill>
              </a:defRPr>
            </a:pPr>
            <a:r>
              <a:t>护城河: ●●○  |  优势: 智能驾驶技术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2057400"/>
            <a:ext cx="2834640" cy="425196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2121408"/>
            <a:ext cx="26151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2024年交付34万辆（+34%），MONA M03爆款</a:t>
            </a:r>
            <a:br/>
            <a:r>
              <a:t>• 自研XNGP端到端智驾，技术实力强</a:t>
            </a:r>
            <a:br/>
            <a:r>
              <a:t>• 大众汽车战略入股（4.99%），获技术授权收入</a:t>
            </a:r>
            <a:br/>
            <a:r>
              <a:t>• 挑战：品牌溢价弱，中端市场竞争激烈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来源：各公司月度/季度交付数据及官方投资者文件（2024年）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2025-2027年核心趋势：智能化、出海、整合三大主线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749039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</a:defRPr>
            </a:pPr>
            <a:r>
              <a:t>趋势一：价格战趋缓，价值战开启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09928"/>
            <a:ext cx="3749039" cy="21488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783080"/>
            <a:ext cx="3529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2024-2025年主要价格战触底</a:t>
            </a:r>
            <a:br/>
            <a:r>
              <a:t>→ 2025H2起竞争转向智能化服务</a:t>
            </a:r>
            <a:br/>
            <a:r>
              <a:t>→ NOA城区/高速覆盖成营销核心</a:t>
            </a:r>
            <a:br/>
            <a:r>
              <a:t>→ OTA软件升级成差异化手段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143000"/>
            <a:ext cx="3749039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399" y="1188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</a:defRPr>
            </a:pPr>
            <a:r>
              <a:t>趋势二：智能化决胜：端到端 NOA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709928"/>
            <a:ext cx="3749039" cy="21488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783080"/>
            <a:ext cx="3529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华为ADS / 小鹏XNGP / Tesla FSD</a:t>
            </a:r>
            <a:br/>
            <a:r>
              <a:t>→ 2025年城区NOA覆盖全面铺开</a:t>
            </a:r>
            <a:br/>
            <a:r>
              <a:t>→ 算法+数据+算力三要素缺一不可</a:t>
            </a:r>
            <a:br/>
            <a:r>
              <a:t>→ 无自研能力者面临差异化危机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43000"/>
            <a:ext cx="3749039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88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</a:defRPr>
            </a:pPr>
            <a:r>
              <a:t>趋势三：出海加速：东南亚+欧洲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09928"/>
            <a:ext cx="3749039" cy="21488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783080"/>
            <a:ext cx="3529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BYD泰国工厂/欧洲匈牙利工厂</a:t>
            </a:r>
            <a:br/>
            <a:r>
              <a:t>→ 零跑与Stellantis欧洲合资</a:t>
            </a:r>
            <a:br/>
            <a:r>
              <a:t>→ 东南亚 2024年中国品牌份额 40%+</a:t>
            </a:r>
            <a:br/>
            <a:r>
              <a:t>→ 欧盟关税壁垒倒逼本地化生产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31920"/>
            <a:ext cx="3749039" cy="5486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7763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</a:defRPr>
            </a:pPr>
            <a:r>
              <a:t>趋势四：整合加速，弱者出局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98848"/>
            <a:ext cx="3749039" cy="21488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572000"/>
            <a:ext cx="3529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预计2025-2026年有2-3家新势力</a:t>
            </a:r>
            <a:br/>
            <a:r>
              <a:t>资金耗尽或被并购</a:t>
            </a:r>
            <a:br/>
            <a:r>
              <a:t>→ CR5市占率预计从58%升至65%+</a:t>
            </a:r>
            <a:br/>
            <a:r>
              <a:t>→ 国资背景车企并购是主要路径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3931920"/>
            <a:ext cx="3749039" cy="5486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399" y="397763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</a:defRPr>
            </a:pPr>
            <a:r>
              <a:t>趋势五：电池技术迭代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4498848"/>
            <a:ext cx="3749039" cy="21488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4572000"/>
            <a:ext cx="3529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固态电池：2026-2027量产预期</a:t>
            </a:r>
            <a:br/>
            <a:r>
              <a:t>→ 能量密度提升30-50%</a:t>
            </a:r>
            <a:br/>
            <a:r>
              <a:t>→ BYD/宁德时代/比亚迪核心卡位</a:t>
            </a:r>
            <a:br/>
            <a:r>
              <a:t>→ 电池成本持续下降利好渗透率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749039" cy="5486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97763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</a:defRPr>
            </a:pPr>
            <a:r>
              <a:t>趋势六：商用车+机器人协同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498848"/>
            <a:ext cx="3749039" cy="21488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4572000"/>
            <a:ext cx="3529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Tesla Optimus机器人 / BYD商用车</a:t>
            </a:r>
            <a:br/>
            <a:r>
              <a:t>→ 汽车+机器人制造协同效应</a:t>
            </a:r>
            <a:br/>
            <a:r>
              <a:t>→ 2027年人形机器人开始规模量产</a:t>
            </a:r>
            <a:br/>
            <a:r>
              <a:t>→ 整车厂具备制造基础优势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趋势预判基于公开研究报告、专家访谈及行业数据综合分析，不构成投资建议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2027年市占率预测：格局深化，BYD稳中有降，新势力洗牌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13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97280"/>
          <a:ext cx="777240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0" y="1097280"/>
          <a:ext cx="374904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1828800"/>
              </a:tblGrid>
              <a:tr h="7707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品牌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预测趋势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核心逻辑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BYD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稳中微降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规模仍领先，但竞争加剧和出海摊薄国内份额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Geely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稳步上升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多品牌矩阵(极氪/领克)持续放量，Flyme车机赋能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 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显著上升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纯电L系列+MEGA换代，增量明确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显著上升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华为持续赋能，2025款旗舰车型周期开启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小幅下降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中国市场竞争加剧，FSD定价争议</a:t>
                      </a:r>
                    </a:p>
                  </a:txBody>
                  <a:tcPr/>
                </a:tc>
              </a:tr>
              <a:tr h="7707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SGMW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下降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宏光MINI换代迟缓，低价市场被零跑侵蚀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预测基于公司指引、产品规划及行业分析综合判断；实际结果可能存在重大偏差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竞争格局总结：智能化与出海是未来2年最大增量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749039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61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🏆 格局结论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82496"/>
            <a:ext cx="3749039" cy="48920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755648"/>
            <a:ext cx="352958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BYD：短期无忧，长期需突破智能化瓶颈</a:t>
            </a:r>
            <a:br/>
            <a:r>
              <a:t>• Tesla：技术护城河仍深，中国份额承压</a:t>
            </a:r>
            <a:br/>
            <a:r>
              <a:t>• 理想：新势力最佳盈利模型，转型关键年</a:t>
            </a:r>
            <a:br/>
            <a:r>
              <a:t>• 问界：华为加持短期红利大，独立性待观察</a:t>
            </a:r>
            <a:br/>
            <a:r>
              <a:t>• NIO/Xpeng：技术有亮点，持续盈利待证明</a:t>
            </a:r>
            <a:br/>
            <a:r>
              <a:t>• 行业整体：2025-2026年将出现2-3家出局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143000"/>
            <a:ext cx="3749039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399" y="1161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💡 投资启示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682496"/>
            <a:ext cx="3749039" cy="48920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755648"/>
            <a:ext cx="352958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短期：关注盈利可持续性与现金流健康度</a:t>
            </a:r>
            <a:br/>
            <a:r>
              <a:t>• 中期：重点追踪NOA渗透率与OTA收入占比</a:t>
            </a:r>
            <a:br/>
            <a:r>
              <a:t>• 长期：出海能力（本地化制造+品牌）是溢价来源</a:t>
            </a:r>
            <a:br/>
            <a:r>
              <a:t>• 风险点：固态电池量产时点可能重塑竞争格局</a:t>
            </a:r>
            <a:br/>
            <a:r>
              <a:t>• 优选标的：具备技术+盈利+出海三重优势者</a:t>
            </a:r>
            <a:br/>
            <a:r>
              <a:t>• 规避：资金储备不足且无差异化优势的尾部品牌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43000"/>
            <a:ext cx="3749039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61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 关键催化剂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82496"/>
            <a:ext cx="3749039" cy="48920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755648"/>
            <a:ext cx="352958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智能驾驶：2025年城区NOA全面商业化落地</a:t>
            </a:r>
            <a:br/>
            <a:r>
              <a:t>• 出海：东南亚+欧洲中国车市场份额数据</a:t>
            </a:r>
            <a:br/>
            <a:r>
              <a:t>• 电池：固态电池量产时间表公告</a:t>
            </a:r>
            <a:br/>
            <a:r>
              <a:t>• 政策：欧盟/美国关税谈判进展</a:t>
            </a:r>
            <a:br/>
            <a:r>
              <a:t>• 并购：首家头部新势力收并购交易发生</a:t>
            </a:r>
            <a:br/>
            <a:r>
              <a:t>• 盈利：蔚来/小鹏首次季度盈利时间点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⚠️ 本分析仅供参考和学习，不构成投资建议。投资决策需自行研判并承担相应风险。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风险提示：技术、市场、地缘三大风险不可忽视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749039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61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⚙️ 技术风险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82496"/>
            <a:ext cx="3749039" cy="48920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755648"/>
            <a:ext cx="352958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智能驾驶技术迭代不及预期，导致竞争格局骤变</a:t>
            </a:r>
            <a:br/>
            <a:r>
              <a:t>• 固态电池量产延迟，打乱各厂产品规划节奏</a:t>
            </a:r>
            <a:br/>
            <a:r>
              <a:t>• 芯片供应受限（地缘政治风险），成本上升</a:t>
            </a:r>
            <a:br/>
            <a:r>
              <a:t>• 软件安全/数据隐私事件引发监管介入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143000"/>
            <a:ext cx="3749039" cy="5029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399" y="1161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 市场风险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682496"/>
            <a:ext cx="3749039" cy="48920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755648"/>
            <a:ext cx="352958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宏观经济下行影响消费信心和高端车需求</a:t>
            </a:r>
            <a:br/>
            <a:r>
              <a:t>• 价格战重新激烈，整体毛利率持续承压</a:t>
            </a:r>
            <a:br/>
            <a:r>
              <a:t>• 电池原材料（锂/钴）价格波动影响成本</a:t>
            </a:r>
            <a:br/>
            <a:r>
              <a:t>• NEV渗透率增速放缓（基数效应+潜在买家收窄）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43000"/>
            <a:ext cx="3749039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61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🌐 地缘政治风险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82496"/>
            <a:ext cx="3749039" cy="4892040"/>
          </a:xfrm>
          <a:prstGeom prst="rect">
            <a:avLst/>
          </a:prstGeom>
          <a:solidFill>
            <a:srgbClr val="F5F7FA"/>
          </a:solidFill>
          <a:ln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755648"/>
            <a:ext cx="352958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欧盟关税壁垒升级，出海成本大幅提升</a:t>
            </a:r>
            <a:br/>
            <a:r>
              <a:t>• 中美贸易摩擦延伸至汽车供应链</a:t>
            </a:r>
            <a:br/>
            <a:r>
              <a:t>• 东南亚/欧洲本土反弹情绪影响中国品牌扩张</a:t>
            </a:r>
            <a:br/>
            <a:r>
              <a:t>• 华为车BU业务受美国制裁影响核心芯片供应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</a:defRPr>
            </a:pPr>
            <a:r>
              <a:t>⚠️ 本报告仅供参考和学习，不构成任何形式的投资建议。分析结论基于公开信息，不代表任何机构立场。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