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工商银行 vs 建设银行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战略竞争视角对比分析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2025年6月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6600"/>
                </a:solidFill>
              </a:defRPr>
            </a:pPr>
            <a:r>
              <a:t>⚠️ 本分析仅供参考和学习，不构成投资建议。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分析框架与目录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本次战略竞争分析覆盖五大维度：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• 市场地位：国有大行中的规模、份额与行业地位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• 核心优势：对公业务、零售业务、国际化布局各条线对比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• 主要压力：息差收窄趋势、LPR下行影响测算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• 战略动向：数字工行、绿色金融、科技金融等新增长点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• 风险提示：房地产敞口、地方债风险现状评估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市场地位对比 — 规模与盈利能力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工商银行 (ICBC)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建设银行 (CCB)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对比分析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总资产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~48.8万亿元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40.57万亿元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工行领先约8万亿元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净利润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~3,640亿元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3,360亿元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工行盈利规模领先约8%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客户贷款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~27万亿元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25.04万亿元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工行贷款规模领先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存款余额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~34万亿元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28.71万亿元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工行存款基础更雄厚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全球排名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全球资产规模最大银行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全球第二/三大行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双雄稳居全球前列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国内份额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约12-13%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约10-11%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合计占国有大行约23%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核心优势对比 — 对公业务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工商银行 — 宇宙行对公优势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客户基础：对公客户超1,000万户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基建金融：深耕交通、能源、制造业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现金管理：企业现金管理市场份额领先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债券承销：债务融资工具承销市场第一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建设银行 — 基建基因特色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基建专长：脱胎于财政基建拨款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住房金融：房地产开发贷款 historically 较强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普惠金融：小微贷款增速较快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战略客户：与大型房企合作紧密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核心优势对比 — 零售业务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工商银行 — 零售规模之王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客户规模：个人客户超7亿户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AUM规模：约20万亿元，行业首位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渠道网络：网点约1.5万个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私行业务：高净值客户服务能力强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建设银行 — 住房金融驱动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按揭优势：住房贷款为核心竞争力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信用卡：龙卡交易额位居前列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财富管理：增速高于工行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场景生态：依托住房生态闭环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核心优势对比 — 国际化布局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工商银行 — 全球化网络最广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海外机构：覆盖49个国家/地区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一带一路：项目融资最多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标准制定：国际金融组织成员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跨境人民币：清算行布局最多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建设银行 — 聚焦亚太特色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区域布局：约30个国家/地区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收购整合：巴西BIC、印尼Windu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跨境联动：境内优势客户带动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差异化：跟随+差异化策略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主要压力 — 净息差(NIM)收窄趋势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银行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2023年NIM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2024年NIM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变化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行业地位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工商银行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1.61%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~1.52-1.55%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-6至-9bp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略高于行业平均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建设银行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~1.70%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~1.52% (Q3)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-18bp (Q2-Q3)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收窄压力较大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中国银行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1.59%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1.41% (Q3)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-18bp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低于工行、建行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交通银行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~1.40%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1.28%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-12bp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NIM水平最低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行业平均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1.65%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1.59%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-6bp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整体承压下行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主要压力 — LPR下行影响测算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LPR下调背景与传导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2024年：1年期LPR累计下调35bp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5年期以上LPR下调60bp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存量贷款重定价持续施压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2025年预计仍有降息空间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对两大行影响测算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工行：LPR每降10bp，净利润承压1.5-2%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建行：受影响程度与工行类似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2025年NIM或进一步收窄5-10bp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通过负债成本管控对冲压力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战略动向 — 数字工行与科技投入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工商银行 — 科技强行战略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科技投入：占营收3.63%，约280-300亿元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数字工行：推进D-ICBC战略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技术布局：AI大模型、区块链、量子计算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成效体现：手机银行月活持续提升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建设银行 — 金融科技转型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科技投入：约200-250亿元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平台战略：建行生活、惠懂你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场景金融：住房、出行、政务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创新业务：数字人民币、智能投顾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战略动向 — 绿色金融与科技金融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绿色金融布局对比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工行：绿色贷款约5万亿元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建行：绿色贷款约4.5万亿元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两行均将双碳纳入长期规划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科技金融新增长点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工行：专精特新贷款超1万亿元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建行：聚焦科创板、北交所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科技金融或成差异化焦点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风险提示 — 房地产敞口与不良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风险类型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工商银行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建设银行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行业对比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房地产贷款占比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约25-28%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约30-33%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建行敞口略高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开发贷不良率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约3.5-4.0%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约4.0-4.5%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两行均上升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个人按揭不良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约0.4-0.5%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约0.4-0.5%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资产质量较好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拨备覆盖率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200%+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200%+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风险抵补充足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2025展望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关注保交房进展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关注城投联动风险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需持续跟踪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风险提示 — 地方债风险现状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地方债敞口分析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平台贷款：均有较大城投敞口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债券投资：地方债及城投债规模可观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区域分布：东部沿海及中西部重点省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风险评估与展望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化债进展：一揽子方案缓解流动性风险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长期压力：财政缺口、土地财政下滑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银行影响：城投重组或进一步压缩收益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竞争格局总结 — 核心能力评分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工商银行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建设银行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7E"/>
                          </a:solidFill>
                        </a:defRPr>
                      </a:pPr>
                      <a:r>
                        <a:t>竞争态势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整体规模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工行领先，稳居全球第一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对公业务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工行客户基础更广泛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零售业务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工行规模领先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国际化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工行全球布局远超建行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科技金融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两行并驾齐驱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NIM韧性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工行负债成本优势明显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资产质量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66666"/>
                          </a:solidFill>
                        </a:defRPr>
                      </a:pPr>
                      <a:r>
                        <a:t>整体稳健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战略建议与投资关注点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工商银行 — 守成与创新并重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利用规模优势巩固领先地位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加强负债成本管控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在一带一路沿线深化布局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将科技投入转化为收入增长点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EAA"/>
                </a:solidFill>
              </a:defRPr>
            </a:pPr>
            <a:r>
              <a:t>建设银行 — 差异化突围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关注NIM止跌企稳信号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在绿色金融形成差异化优势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依托住房生态提升零售贡献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7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关注房地产及地方债敞口演变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工商银行 vs 建设银行 | 战略竞争分析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2025年6月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6600"/>
                </a:solidFill>
              </a:defRPr>
            </a:pPr>
            <a:r>
              <a:t>⚠️ 本分析仅供参考和学习，不构成投资建议。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